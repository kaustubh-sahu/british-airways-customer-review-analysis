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081F3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81F38"/>
          </a:solidFill>
          <a:ln/>
        </p:spPr>
      </p:sp>
      <p:sp>
        <p:nvSpPr>
          <p:cNvPr id="4" name="Shape 2"/>
          <p:cNvSpPr/>
          <p:nvPr/>
        </p:nvSpPr>
        <p:spPr>
          <a:xfrm>
            <a:off x="5358384" y="1051560"/>
            <a:ext cx="1463040" cy="14630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/home/claude/icons/plane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41732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8036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BRITISH AIRWAYS CUSTOMER REVIEW ANALYSIS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37947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Project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5074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</a:t>
            </a:r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Kaustubh Sahu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544068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Intern  •  Labmentix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B2F54"/>
          </a:solidFill>
          <a:ln/>
        </p:spPr>
      </p:sp>
      <p:pic>
        <p:nvPicPr>
          <p:cNvPr id="5" name="Image 0" descr="/home/claude/icons/p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1051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581912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00200" y="196596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is a major full-service international airline. This project analyzes a curated set of publicly sourced passenger reviews describing customers' end-to-end flight experience.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3081528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B2F54"/>
          </a:solidFill>
          <a:ln/>
        </p:spPr>
      </p:sp>
      <p:pic>
        <p:nvPicPr>
          <p:cNvPr id="9" name="Image 1" descr="/home/claude/icons/com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29184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0632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Review Analysis Matters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00200" y="3447288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reviews capture direct customer sentiment across service touchpoints — comfort, staff, food, entertainment, and value — that are difficult to quantify through operational data alone.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4562856"/>
            <a:ext cx="822960" cy="822960"/>
          </a:xfrm>
          <a:prstGeom prst="roundRect">
            <a:avLst>
              <a:gd name="adj" fmla="val 17778"/>
            </a:avLst>
          </a:prstGeom>
          <a:solidFill>
            <a:srgbClr val="0B2F54"/>
          </a:solidFill>
          <a:ln/>
        </p:spPr>
      </p:sp>
      <p:pic>
        <p:nvPicPr>
          <p:cNvPr id="13" name="Image 2" descr="/home/claude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773168"/>
            <a:ext cx="402336" cy="40233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00200" y="4544568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This Project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00200" y="4928616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consolidates 1,324 passenger reviews into an interactive, three-page Power BI report covering overall satisfaction, service quality, and aircraft/route-level performance.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Customer Review Analysis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Objectives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EAF0F7"/>
          </a:solidFill>
          <a:ln/>
        </p:spPr>
      </p:sp>
      <p:pic>
        <p:nvPicPr>
          <p:cNvPr id="5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90195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514600"/>
            <a:ext cx="44805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collect large volumes of unstructured review text and star-style ratings, but this feedback is rarely consolidated into a single analytical view. Without it, teams cannot easily see which service dimensions, aircraft, routes, or traveller segments are driving — or hurting — satisfaction and recommendation rates.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897880" y="1600200"/>
            <a:ext cx="5742432" cy="4434840"/>
          </a:xfrm>
          <a:prstGeom prst="roundRect">
            <a:avLst>
              <a:gd name="adj" fmla="val 2062"/>
            </a:avLst>
          </a:prstGeom>
          <a:solidFill>
            <a:srgbClr val="0B2F54"/>
          </a:solidFill>
          <a:ln/>
        </p:spPr>
      </p:sp>
      <p:pic>
        <p:nvPicPr>
          <p:cNvPr id="9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745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1901952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Achieved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6217920" y="2487168"/>
            <a:ext cx="5257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review, service-rating, and country reference data into a single Power BI data model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reusable library of 14 DAX measures for volume, rating, and recommendation performance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satisfaction down by individual service dimension — comfort, staff, food, ground service, entertainment, value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performance by aircraft type, route, seat class, traveller type, and country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interactive, filterable three-page report to support data-driven service decisions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Customer Review Analysis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BEHIND THE DASHBOARDS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2724912" cy="1234440"/>
          </a:xfrm>
          <a:prstGeom prst="roundRect">
            <a:avLst>
              <a:gd name="adj" fmla="val 7407"/>
            </a:avLst>
          </a:prstGeom>
          <a:solidFill>
            <a:srgbClr val="0B2F5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 Reviews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10712" y="1572768"/>
            <a:ext cx="2724912" cy="1234440"/>
          </a:xfrm>
          <a:prstGeom prst="roundRect">
            <a:avLst>
              <a:gd name="adj" fmla="val 7407"/>
            </a:avLst>
          </a:prstGeom>
          <a:solidFill>
            <a:srgbClr val="0B2F54"/>
          </a:solidFill>
          <a:ln/>
        </p:spPr>
      </p:sp>
      <p:sp>
        <p:nvSpPr>
          <p:cNvPr id="8" name="Text 6"/>
          <p:cNvSpPr/>
          <p:nvPr/>
        </p:nvSpPr>
        <p:spPr>
          <a:xfrm>
            <a:off x="3410712" y="164592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02152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Represented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72784" y="1572768"/>
            <a:ext cx="2724912" cy="1234440"/>
          </a:xfrm>
          <a:prstGeom prst="roundRect">
            <a:avLst>
              <a:gd name="adj" fmla="val 7407"/>
            </a:avLst>
          </a:prstGeom>
          <a:solidFill>
            <a:srgbClr val="0B2F54"/>
          </a:solidFill>
          <a:ln/>
        </p:spPr>
      </p:sp>
      <p:sp>
        <p:nvSpPr>
          <p:cNvPr id="11" name="Text 9"/>
          <p:cNvSpPr/>
          <p:nvPr/>
        </p:nvSpPr>
        <p:spPr>
          <a:xfrm>
            <a:off x="6272784" y="164592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64224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Type Labels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34856" y="1572768"/>
            <a:ext cx="2724912" cy="1234440"/>
          </a:xfrm>
          <a:prstGeom prst="roundRect">
            <a:avLst>
              <a:gd name="adj" fmla="val 7407"/>
            </a:avLst>
          </a:prstGeom>
          <a:solidFill>
            <a:srgbClr val="0B2F54"/>
          </a:solidFill>
          <a:ln/>
        </p:spPr>
      </p:sp>
      <p:sp>
        <p:nvSpPr>
          <p:cNvPr id="14" name="Text 12"/>
          <p:cNvSpPr/>
          <p:nvPr/>
        </p:nvSpPr>
        <p:spPr>
          <a:xfrm>
            <a:off x="9134856" y="1645920"/>
            <a:ext cx="27249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226296" y="2286000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Routes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Period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01568"/>
            <a:ext cx="53949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dates span March 2016 to October 2023 (flight dates on record from May 2015). Review volume is highest in 2017 and gradually recovers after a 2020–2021 dip.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864608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via Power Query's Excel.Workbook connector from two local workbooks: ba_reviews.xlsx and Countries.xlsx. No external database or API connection is present in the file.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063240"/>
            <a:ext cx="5376672" cy="2999232"/>
          </a:xfrm>
          <a:prstGeom prst="roundRect">
            <a:avLst>
              <a:gd name="adj" fmla="val 3049"/>
            </a:avLst>
          </a:prstGeom>
          <a:solidFill>
            <a:srgbClr val="EAF0F7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200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Columns &amp; Characteristics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92240" y="3584448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fields: Header, Author, Date, Country, Content, Aircraft, Traveller Type, Seat Type, Route, Flight Date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fields: Recommended (Yes/No), Trip Verified (Verified/Not Verified)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Rating on a 1–10 scale; six service sub-ratings (Seat Comfort, Cabin Staff, Food, Ground Service, Value for Money, Entertainment) on a 1–5 scale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Type has 4 categories; Seat Type has 4 cabin classes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Customer Review Analysis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 &amp; DATA 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3F6FA"/>
          </a:solidFill>
          <a:ln/>
        </p:spPr>
      </p:sp>
      <p:pic>
        <p:nvPicPr>
          <p:cNvPr id="5" name="Image 0" descr="/home/claude/icons/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64792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73736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Connection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88720" y="2048256"/>
            <a:ext cx="4754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tables loaded via Excel.Workbook() from local ba_reviews.xlsx and Countries.xlsx files.</a:t>
            </a:r>
            <a:endParaRPr lang="en-US" sz="1080" dirty="0"/>
          </a:p>
        </p:txBody>
      </p:sp>
      <p:pic>
        <p:nvPicPr>
          <p:cNvPr id="8" name="Image 1" descr="/home/claude/icons/b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89864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87121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Type Correction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88720" y="3182112"/>
            <a:ext cx="4754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promoted; dates parsed as Date type; ratings parsed as whole numbers; Text.Trim and Text.Clean applied across all text columns.</a:t>
            </a:r>
            <a:endParaRPr lang="en-US" sz="1080" dirty="0"/>
          </a:p>
        </p:txBody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3250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88720" y="400507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Null &amp; Invalid Value Handling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188720" y="4315968"/>
            <a:ext cx="4754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Blank Traveller Type values replaced with “Solo Leisure”; placeholder “-1” rating values replaced with null; exact duplicate rows removed.</a:t>
            </a:r>
            <a:endParaRPr lang="en-US" sz="1080" dirty="0"/>
          </a:p>
        </p:txBody>
      </p:sp>
      <p:pic>
        <p:nvPicPr>
          <p:cNvPr id="14" name="Image 3" descr="/home/claude/icons/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16636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88720" y="51389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Renaming &amp; Standardization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1188720" y="5449824"/>
            <a:ext cx="475488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field names (e.g. cabin_staff_service, food_beverages) renamed to business-friendly labels; over 50 Table.ReplaceValue steps standardize inconsistent Aircraft labels (e.g. “B777” → “Boeing 777”, “Dreamliner” → “Boeing 787”).</a:t>
            </a:r>
            <a:endParaRPr lang="en-US" sz="1080" dirty="0"/>
          </a:p>
        </p:txBody>
      </p:sp>
      <p:sp>
        <p:nvSpPr>
          <p:cNvPr id="17" name="Shape 11"/>
          <p:cNvSpPr/>
          <p:nvPr/>
        </p:nvSpPr>
        <p:spPr>
          <a:xfrm>
            <a:off x="6263640" y="1536192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0B2F54"/>
          </a:solidFill>
          <a:ln/>
        </p:spPr>
      </p:sp>
      <p:pic>
        <p:nvPicPr>
          <p:cNvPr id="18" name="Image 4" descr="/home/claude/icons/cog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764792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949440" y="173736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Unpivoting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949440" y="2048256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Service_Ratings table unpivots the six rating columns into Service / Rating pairs, enabling cross-service comparison in bar charts and a pivot table.</a:t>
            </a:r>
            <a:endParaRPr lang="en-US" sz="1080" dirty="0"/>
          </a:p>
        </p:txBody>
      </p:sp>
      <p:pic>
        <p:nvPicPr>
          <p:cNvPr id="21" name="Image 5" descr="/home/claude/icons/char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182112"/>
            <a:ext cx="329184" cy="32918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949440" y="315468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Tables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6949440" y="3465576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auto-generated Date hierarchy tables support the Date-based slicers; Year, Month, and Quarter columns are also derived from Flight Date using DAX calculated columns.</a:t>
            </a:r>
            <a:endParaRPr lang="en-US" sz="1080" dirty="0"/>
          </a:p>
        </p:txBody>
      </p:sp>
      <p:pic>
        <p:nvPicPr>
          <p:cNvPr id="24" name="Image 6" descr="/home/claude/icons/l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599432"/>
            <a:ext cx="329184" cy="32918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949440" y="4572000"/>
            <a:ext cx="4526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Relationships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6949440" y="4882896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verified relationship exists in the model: ba_reviews[Country] → Countries[Country] (many-to-one). The Service_Ratings table carries no defined relationship to ba_reviews or Countries — it functions as an independent table for service-level breakdowns.</a:t>
            </a:r>
            <a:endParaRPr lang="en-US" sz="1080" dirty="0"/>
          </a:p>
        </p:txBody>
      </p:sp>
      <p:sp>
        <p:nvSpPr>
          <p:cNvPr id="27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Customer Review Analysis</a:t>
            </a:r>
            <a:endParaRPr lang="en-US" sz="900" dirty="0"/>
          </a:p>
        </p:txBody>
      </p:sp>
      <p:sp>
        <p:nvSpPr>
          <p:cNvPr id="28" name="Text 1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snapshot of overall passenger satisfaction and recommendation performance, designed as the report's landing page.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925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8" name="Text 6"/>
          <p:cNvSpPr/>
          <p:nvPr/>
        </p:nvSpPr>
        <p:spPr>
          <a:xfrm>
            <a:off x="244754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329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10" name="Text 8"/>
          <p:cNvSpPr/>
          <p:nvPr/>
        </p:nvSpPr>
        <p:spPr>
          <a:xfrm>
            <a:off x="429158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1733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12" name="Text 10"/>
          <p:cNvSpPr/>
          <p:nvPr/>
        </p:nvSpPr>
        <p:spPr>
          <a:xfrm>
            <a:off x="613562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6137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14" name="Text 12"/>
          <p:cNvSpPr/>
          <p:nvPr/>
        </p:nvSpPr>
        <p:spPr>
          <a:xfrm>
            <a:off x="797966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80541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16" name="Text 14"/>
          <p:cNvSpPr/>
          <p:nvPr/>
        </p:nvSpPr>
        <p:spPr>
          <a:xfrm>
            <a:off x="982370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6537960" cy="3337560"/>
          </a:xfrm>
          <a:prstGeom prst="roundRect">
            <a:avLst>
              <a:gd name="adj" fmla="val 2192"/>
            </a:avLst>
          </a:prstGeom>
          <a:solidFill>
            <a:srgbClr val="F3F6FA"/>
          </a:solidFill>
          <a:ln/>
        </p:spPr>
      </p:sp>
      <p:pic>
        <p:nvPicPr>
          <p:cNvPr id="18" name="Image 0" descr="/home/claude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926080"/>
            <a:ext cx="310896" cy="31089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70432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Included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4672" y="3273552"/>
            <a:ext cx="6080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— “Customer Satisfaction by Country”: plots reviews, average rating, and recommendation rate geographically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— “Passenger Recommendation Rate”: share of Yes vs. No recommendations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— “Recommendation Rate by Traveller Type”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 — “Distribution of Overall Ratings” (1–10 scale)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— “Average Rating Over Time” (by year/quarter)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223760" y="2788920"/>
            <a:ext cx="4416552" cy="1417320"/>
          </a:xfrm>
          <a:prstGeom prst="roundRect">
            <a:avLst>
              <a:gd name="adj" fmla="val 5161"/>
            </a:avLst>
          </a:prstGeom>
          <a:solidFill>
            <a:srgbClr val="EAF0F7"/>
          </a:solidFill>
          <a:ln/>
        </p:spPr>
      </p:sp>
      <p:sp>
        <p:nvSpPr>
          <p:cNvPr id="22" name="Text 19"/>
          <p:cNvSpPr/>
          <p:nvPr/>
        </p:nvSpPr>
        <p:spPr>
          <a:xfrm>
            <a:off x="7424928" y="2880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/ Slicers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24928" y="32004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Traveller Type, Seat Type, and Date slicers let viewers narrow every visual on the page to a specific segment or period.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23760" y="4315968"/>
            <a:ext cx="4416552" cy="1810512"/>
          </a:xfrm>
          <a:prstGeom prst="roundRect">
            <a:avLst>
              <a:gd name="adj" fmla="val 4040"/>
            </a:avLst>
          </a:prstGeom>
          <a:solidFill>
            <a:srgbClr val="0B2F54"/>
          </a:solidFill>
          <a:ln/>
        </p:spPr>
      </p:sp>
      <p:sp>
        <p:nvSpPr>
          <p:cNvPr id="25" name="Text 22"/>
          <p:cNvSpPr/>
          <p:nvPr/>
        </p:nvSpPr>
        <p:spPr>
          <a:xfrm>
            <a:off x="7424928" y="44074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424928" y="470916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recommendation rate across all reviews is approximately 43%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Kingdom contributes the largest single share of reviews, consistent with BA's home market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distribution is polarized — concentrated at the low end with a secondary cluster at high scores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Customer Review Analysis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Quality Analysis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deep-dive into individual service dimensions, showing how comfort, staff, food, and value ratings vary by traveller type and cabin class.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2925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8" name="Text 6"/>
          <p:cNvSpPr/>
          <p:nvPr/>
        </p:nvSpPr>
        <p:spPr>
          <a:xfrm>
            <a:off x="244754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7329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10" name="Text 8"/>
          <p:cNvSpPr/>
          <p:nvPr/>
        </p:nvSpPr>
        <p:spPr>
          <a:xfrm>
            <a:off x="429158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1733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12" name="Text 10"/>
          <p:cNvSpPr/>
          <p:nvPr/>
        </p:nvSpPr>
        <p:spPr>
          <a:xfrm>
            <a:off x="613562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6137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14" name="Text 12"/>
          <p:cNvSpPr/>
          <p:nvPr/>
        </p:nvSpPr>
        <p:spPr>
          <a:xfrm>
            <a:off x="797966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Entertain-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805416" y="1828800"/>
            <a:ext cx="177088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16" name="Text 14"/>
          <p:cNvSpPr/>
          <p:nvPr/>
        </p:nvSpPr>
        <p:spPr>
          <a:xfrm>
            <a:off x="9823704" y="1883664"/>
            <a:ext cx="173431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for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6537960" cy="3337560"/>
          </a:xfrm>
          <a:prstGeom prst="roundRect">
            <a:avLst>
              <a:gd name="adj" fmla="val 2192"/>
            </a:avLst>
          </a:prstGeom>
          <a:solidFill>
            <a:srgbClr val="F3F6FA"/>
          </a:solidFill>
          <a:ln/>
        </p:spPr>
      </p:sp>
      <p:pic>
        <p:nvPicPr>
          <p:cNvPr id="18" name="Image 0" descr="/home/claude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926080"/>
            <a:ext cx="310896" cy="31089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170432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Included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04672" y="3273552"/>
            <a:ext cx="6080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— Overall Rating by Traveller Type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— Value for Money by Seat Type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— Recommendation Rate by Traveller Type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 — sum of service ratings by Service and Seat Type (built from the unpivoted Service_Ratings table)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— total rating by Service (ranks all six service dimensions)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— Food Quality by Seat Type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7223760" y="2788920"/>
            <a:ext cx="4416552" cy="1417320"/>
          </a:xfrm>
          <a:prstGeom prst="roundRect">
            <a:avLst>
              <a:gd name="adj" fmla="val 5161"/>
            </a:avLst>
          </a:prstGeom>
          <a:solidFill>
            <a:srgbClr val="EAF0F7"/>
          </a:solidFill>
          <a:ln/>
        </p:spPr>
      </p:sp>
      <p:sp>
        <p:nvSpPr>
          <p:cNvPr id="22" name="Text 19"/>
          <p:cNvSpPr/>
          <p:nvPr/>
        </p:nvSpPr>
        <p:spPr>
          <a:xfrm>
            <a:off x="7424928" y="2880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/ Slicers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24928" y="32004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Type, Seat Type, Country, and Date slicers refine every service breakdown on the page.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223760" y="4315968"/>
            <a:ext cx="4416552" cy="1810512"/>
          </a:xfrm>
          <a:prstGeom prst="roundRect">
            <a:avLst>
              <a:gd name="adj" fmla="val 4040"/>
            </a:avLst>
          </a:prstGeom>
          <a:solidFill>
            <a:srgbClr val="0B2F54"/>
          </a:solidFill>
          <a:ln/>
        </p:spPr>
      </p:sp>
      <p:sp>
        <p:nvSpPr>
          <p:cNvPr id="25" name="Text 22"/>
          <p:cNvSpPr/>
          <p:nvPr/>
        </p:nvSpPr>
        <p:spPr>
          <a:xfrm>
            <a:off x="7424928" y="44074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424928" y="470916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 Staff is the highest-rated service dimension (avg. 3.32 of 5); Food Quality is the lowest (avg. 2.66 of 5)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 and Economy Class travellers report higher overall ratings than Business Class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Leisure travellers report the lowest average overall rating among the four traveller categories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Customer Review Analysis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Aircraft &amp; Customer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how satisfaction varies across aircraft types and routes, and whether verified reviews differ from unverified ones.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85216" y="1828800"/>
            <a:ext cx="269290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6" name="Text 4"/>
          <p:cNvSpPr/>
          <p:nvPr/>
        </p:nvSpPr>
        <p:spPr>
          <a:xfrm>
            <a:off x="603504" y="1883664"/>
            <a:ext cx="265633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1276" y="1828800"/>
            <a:ext cx="269290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8" name="Text 6"/>
          <p:cNvSpPr/>
          <p:nvPr/>
        </p:nvSpPr>
        <p:spPr>
          <a:xfrm>
            <a:off x="3369564" y="1883664"/>
            <a:ext cx="265633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17336" y="1828800"/>
            <a:ext cx="269290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10" name="Text 8"/>
          <p:cNvSpPr/>
          <p:nvPr/>
        </p:nvSpPr>
        <p:spPr>
          <a:xfrm>
            <a:off x="6135624" y="1883664"/>
            <a:ext cx="265633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883396" y="1828800"/>
            <a:ext cx="2692908" cy="777240"/>
          </a:xfrm>
          <a:prstGeom prst="roundRect">
            <a:avLst>
              <a:gd name="adj" fmla="val 9412"/>
            </a:avLst>
          </a:prstGeom>
          <a:solidFill>
            <a:srgbClr val="0B2F54"/>
          </a:solidFill>
          <a:ln/>
        </p:spPr>
      </p:sp>
      <p:sp>
        <p:nvSpPr>
          <p:cNvPr id="12" name="Text 10"/>
          <p:cNvSpPr/>
          <p:nvPr/>
        </p:nvSpPr>
        <p:spPr>
          <a:xfrm>
            <a:off x="8901684" y="1883664"/>
            <a:ext cx="2656332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6537960" cy="3337560"/>
          </a:xfrm>
          <a:prstGeom prst="roundRect">
            <a:avLst>
              <a:gd name="adj" fmla="val 2192"/>
            </a:avLst>
          </a:prstGeom>
          <a:solidFill>
            <a:srgbClr val="F3F6FA"/>
          </a:solidFill>
          <a:ln/>
        </p:spPr>
      </p:sp>
      <p:pic>
        <p:nvPicPr>
          <p:cNvPr id="14" name="Image 0" descr="/home/claude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926080"/>
            <a:ext cx="310896" cy="31089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70432" y="290779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 Included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04672" y="3273552"/>
            <a:ext cx="6080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— “Top Aircraft by Overall Rating”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Bar — “Overall Rating by Route”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— split of Trip Verified vs. Not Verified reviews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 — “Overall Rating by Trip Verification”</a:t>
            </a:r>
            <a:endParaRPr lang="en-US" sz="108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8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 — total review volume by Country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7223760" y="2788920"/>
            <a:ext cx="4416552" cy="1417320"/>
          </a:xfrm>
          <a:prstGeom prst="roundRect">
            <a:avLst>
              <a:gd name="adj" fmla="val 5161"/>
            </a:avLst>
          </a:prstGeom>
          <a:solidFill>
            <a:srgbClr val="EAF0F7"/>
          </a:solidFill>
          <a:ln/>
        </p:spPr>
      </p:sp>
      <p:sp>
        <p:nvSpPr>
          <p:cNvPr id="18" name="Text 15"/>
          <p:cNvSpPr/>
          <p:nvPr/>
        </p:nvSpPr>
        <p:spPr>
          <a:xfrm>
            <a:off x="7424928" y="288036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/ Slicers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424928" y="320040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Type, Seat Type, Date, and Country slicers filter aircraft-, route-, and verification-level views together.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223760" y="4315968"/>
            <a:ext cx="4416552" cy="1810512"/>
          </a:xfrm>
          <a:prstGeom prst="roundRect">
            <a:avLst>
              <a:gd name="adj" fmla="val 4040"/>
            </a:avLst>
          </a:prstGeom>
          <a:solidFill>
            <a:srgbClr val="0B2F54"/>
          </a:solidFill>
          <a:ln/>
        </p:spPr>
      </p:sp>
      <p:sp>
        <p:nvSpPr>
          <p:cNvPr id="21" name="Text 18"/>
          <p:cNvSpPr/>
          <p:nvPr/>
        </p:nvSpPr>
        <p:spPr>
          <a:xfrm>
            <a:off x="7424928" y="4407408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424928" y="470916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A320 receives the highest number of reviews (267) among all 103 aircraft labels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 of reviews are Trip Verified, and this group reports a higher average rating (4.24) than unverified reviews (3.57)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United Kingdom, United States, and Australia are the top three countries by review volume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Customer Review Analysis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DASHBOARDS SUGGEST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0B2F54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A441"/>
          </a:solidFill>
          <a:ln/>
        </p:spPr>
      </p:sp>
      <p:pic>
        <p:nvPicPr>
          <p:cNvPr id="6" name="Image 0" descr="/home/claude/icons/foo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019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4650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 Food &amp; Beverage Quality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417320" y="213055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lowest-rated service dimension across nearly every seat class and a clear first target for improvement investment.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64808" y="178308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2F54"/>
          </a:solidFill>
          <a:ln/>
        </p:spPr>
      </p:sp>
      <p:pic>
        <p:nvPicPr>
          <p:cNvPr id="11" name="Image 1" descr="/home/claude/icons/se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019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74650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Re-examine the Business Class Experience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132320" y="213055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Class travellers report lower overall ratings than Economy or First Class despite paying a premium — this gap warrants direct investigation.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0B2F54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291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A441"/>
          </a:solidFill>
          <a:ln/>
        </p:spPr>
      </p:sp>
      <p:pic>
        <p:nvPicPr>
          <p:cNvPr id="16" name="Image 2" descr="/home/claude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071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25526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Aircraft &amp; Route-Level Investment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1417320" y="363931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aircraft- and route-level rating breakdowns to focus maintenance and service upgrades where ratings are weakest.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64808" y="329184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2F54"/>
          </a:solidFill>
          <a:ln/>
        </p:spPr>
      </p:sp>
      <p:pic>
        <p:nvPicPr>
          <p:cNvPr id="21" name="Image 3" descr="/home/claude/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341071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25526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Encourage Verified Reviews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132320" y="363931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reviews report materially higher satisfaction (4.24 vs. 3.57); growing this share improves both sentiment and data reliability.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617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0B2F54"/>
          </a:solidFill>
          <a:ln/>
        </p:spPr>
      </p:sp>
      <p:sp>
        <p:nvSpPr>
          <p:cNvPr id="25" name="Shape 19"/>
          <p:cNvSpPr/>
          <p:nvPr/>
        </p:nvSpPr>
        <p:spPr>
          <a:xfrm>
            <a:off x="749808" y="4800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9A441"/>
          </a:solidFill>
          <a:ln/>
        </p:spPr>
      </p:sp>
      <p:pic>
        <p:nvPicPr>
          <p:cNvPr id="26" name="Image 4" descr="/home/claude/icons/tre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91947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17320" y="47640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Recommendation Rate Over Time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1417320" y="514807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8E2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Executive Overview trend line as an early warning indicator for shifts in overall passenger sentiment.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63640" y="4617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3F6FA"/>
          </a:solidFill>
          <a:ln/>
        </p:spPr>
      </p:sp>
      <p:sp>
        <p:nvSpPr>
          <p:cNvPr id="30" name="Shape 23"/>
          <p:cNvSpPr/>
          <p:nvPr/>
        </p:nvSpPr>
        <p:spPr>
          <a:xfrm>
            <a:off x="6464808" y="480060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0B2F54"/>
          </a:solidFill>
          <a:ln/>
        </p:spPr>
      </p:sp>
      <p:pic>
        <p:nvPicPr>
          <p:cNvPr id="31" name="Image 5" descr="/home/claude/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491947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7640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Strategy by Traveller Type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132320" y="5148072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Leisure travellers report the lowest average rating of the four traveller segments and may need tailored service attention.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Customer Review Analysis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Learnings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B2F5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LEARNINGS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Demonstrated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81F38"/>
          </a:solidFill>
          <a:ln/>
        </p:spPr>
      </p:sp>
      <p:sp>
        <p:nvSpPr>
          <p:cNvPr id="7" name="Shape 5"/>
          <p:cNvSpPr/>
          <p:nvPr/>
        </p:nvSpPr>
        <p:spPr>
          <a:xfrm>
            <a:off x="1504188" y="1801368"/>
            <a:ext cx="694944" cy="69494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8" name="Image 0" descr="/home/claude/icons/exc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7924" y="197510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Query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 source connection, cleaning, standardization, unpivoting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81F38"/>
          </a:solidFill>
          <a:ln/>
        </p:spPr>
      </p:sp>
      <p:sp>
        <p:nvSpPr>
          <p:cNvPr id="12" name="Shape 9"/>
          <p:cNvSpPr/>
          <p:nvPr/>
        </p:nvSpPr>
        <p:spPr>
          <a:xfrm>
            <a:off x="4274820" y="1801368"/>
            <a:ext cx="694944" cy="69494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3" name="Image 1" descr="/home/claude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56" y="197510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56432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measures for KPIs, ratios, and distinct counts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9904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81F38"/>
          </a:solidFill>
          <a:ln/>
        </p:spPr>
      </p:sp>
      <p:sp>
        <p:nvSpPr>
          <p:cNvPr id="17" name="Shape 13"/>
          <p:cNvSpPr/>
          <p:nvPr/>
        </p:nvSpPr>
        <p:spPr>
          <a:xfrm>
            <a:off x="7045452" y="1801368"/>
            <a:ext cx="694944" cy="69494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18" name="Image 2" descr="/home/claude/icons/l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9188" y="197510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81344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27064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design and star-schema thinking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8860536" y="160020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81F38"/>
          </a:solidFill>
          <a:ln/>
        </p:spPr>
      </p:sp>
      <p:sp>
        <p:nvSpPr>
          <p:cNvPr id="22" name="Shape 17"/>
          <p:cNvSpPr/>
          <p:nvPr/>
        </p:nvSpPr>
        <p:spPr>
          <a:xfrm>
            <a:off x="9816084" y="1801368"/>
            <a:ext cx="694944" cy="69494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3" name="Image 3" descr="/home/claude/icons/don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820" y="197510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51976" y="256032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Design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997696" y="28803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3-page interactive report with consistent KPI layout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8640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81F38"/>
          </a:solidFill>
          <a:ln/>
        </p:spPr>
      </p:sp>
      <p:sp>
        <p:nvSpPr>
          <p:cNvPr id="27" name="Shape 21"/>
          <p:cNvSpPr/>
          <p:nvPr/>
        </p:nvSpPr>
        <p:spPr>
          <a:xfrm>
            <a:off x="1504188" y="3995928"/>
            <a:ext cx="694944" cy="69494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28" name="Image 4" descr="/home/claude/icons/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7924" y="4169664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640080" y="4754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685800" y="5074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treemaps, pivot tables, trend lines, donuts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3319272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81F38"/>
          </a:solidFill>
          <a:ln/>
        </p:spPr>
      </p:sp>
      <p:sp>
        <p:nvSpPr>
          <p:cNvPr id="32" name="Shape 25"/>
          <p:cNvSpPr/>
          <p:nvPr/>
        </p:nvSpPr>
        <p:spPr>
          <a:xfrm>
            <a:off x="4274820" y="3995928"/>
            <a:ext cx="694944" cy="69494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3" name="Image 5" descr="/home/claude/icons/bul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8556" y="4169664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410712" y="4754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Intelligence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3456432" y="5074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raw ratings into decision-ready insight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6089904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81F38"/>
          </a:solidFill>
          <a:ln/>
        </p:spPr>
      </p:sp>
      <p:sp>
        <p:nvSpPr>
          <p:cNvPr id="37" name="Shape 29"/>
          <p:cNvSpPr/>
          <p:nvPr/>
        </p:nvSpPr>
        <p:spPr>
          <a:xfrm>
            <a:off x="7045452" y="3995928"/>
            <a:ext cx="694944" cy="69494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38" name="Image 6" descr="/home/claude/icons/broom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9188" y="4169664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6181344" y="4754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40" name="Text 31"/>
          <p:cNvSpPr/>
          <p:nvPr/>
        </p:nvSpPr>
        <p:spPr>
          <a:xfrm>
            <a:off x="6227064" y="5074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handling, de-duplication, category standardization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8860536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081F38"/>
          </a:solidFill>
          <a:ln/>
        </p:spPr>
      </p:sp>
      <p:sp>
        <p:nvSpPr>
          <p:cNvPr id="42" name="Shape 33"/>
          <p:cNvSpPr/>
          <p:nvPr/>
        </p:nvSpPr>
        <p:spPr>
          <a:xfrm>
            <a:off x="9816084" y="3995928"/>
            <a:ext cx="694944" cy="694944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43" name="Image 7" descr="/home/claude/icons/gra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89820" y="4169664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8951976" y="4754880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Analytical Thinking</a:t>
            </a:r>
            <a:endParaRPr lang="en-US" sz="1300" dirty="0"/>
          </a:p>
        </p:txBody>
      </p:sp>
      <p:sp>
        <p:nvSpPr>
          <p:cNvPr id="45" name="Text 35"/>
          <p:cNvSpPr/>
          <p:nvPr/>
        </p:nvSpPr>
        <p:spPr>
          <a:xfrm>
            <a:off x="8997696" y="507492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7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a business problem into measurable objectives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Customer Review Analysis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F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EAF0F7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102412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turned 1,324 raw passenger reviews into a structured, three-dashboard Power BI report built on a cleaned data model and a library of 14 DAX measures. It surfaces where British Airways is performing well — such as cabin staff service — and where the clearest opportunities for improvement lie, particularly food quality and the Business Class experience.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0B2F54"/>
          </a:solidFill>
          <a:ln/>
        </p:spPr>
      </p:sp>
      <p:pic>
        <p:nvPicPr>
          <p:cNvPr id="7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09651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4553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491947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decision-makers a single, filterable view of satisfaction drivers instead of scattered raw reviews.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51960" y="3886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0B2F54"/>
          </a:solidFill>
          <a:ln/>
        </p:spPr>
      </p:sp>
      <p:pic>
        <p:nvPicPr>
          <p:cNvPr id="11" name="Image 1" descr="/home/claude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09651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4553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Decisions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80560" y="491947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trend visuals let teams act on evidence — prioritizing food quality, Business Class, and verified-review growth.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955280" y="38862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0B2F54"/>
          </a:solidFill>
          <a:ln/>
        </p:spPr>
      </p:sp>
      <p:pic>
        <p:nvPicPr>
          <p:cNvPr id="15" name="Image 2" descr="/home/claude/icons/gra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4096512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83880" y="45537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 Outcome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8183880" y="4919472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end-to-end analytics skills: data preparation, modeling, DAX, and dashboard storytelling.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 Airways Customer Review Analysis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4114800" cy="4114800"/>
          </a:xfrm>
          <a:prstGeom prst="ellipse">
            <a:avLst/>
          </a:prstGeom>
          <a:solidFill>
            <a:srgbClr val="081F38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081F38"/>
          </a:solidFill>
          <a:ln/>
        </p:spPr>
      </p:sp>
      <p:sp>
        <p:nvSpPr>
          <p:cNvPr id="4" name="Shape 2"/>
          <p:cNvSpPr/>
          <p:nvPr/>
        </p:nvSpPr>
        <p:spPr>
          <a:xfrm>
            <a:off x="5358384" y="1234440"/>
            <a:ext cx="1463040" cy="1463040"/>
          </a:xfrm>
          <a:prstGeom prst="ellipse">
            <a:avLst/>
          </a:prstGeom>
          <a:solidFill>
            <a:srgbClr val="D9A441"/>
          </a:solidFill>
          <a:ln/>
        </p:spPr>
      </p:sp>
      <p:pic>
        <p:nvPicPr>
          <p:cNvPr id="5" name="Image 0" descr="/home/claude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24144" y="16002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1752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914400" y="37947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F8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50292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Kaustubh Sahu  |  Data Analytics Intern  |  Labmentix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2026-07-23T21:00:41Z</dcterms:created>
  <dcterms:modified xsi:type="dcterms:W3CDTF">2026-07-23T21:00:41Z</dcterms:modified>
</cp:coreProperties>
</file>